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42B4E"/>
                </a:solidFill>
              </a:defRPr>
            </a:pPr>
            <a:r>
              <a:t>Azure Site Recovery</a:t>
            </a:r>
          </a:p>
          <a:p>
            <a:pPr>
              <a:spcBef>
                <a:spcPts val="800"/>
              </a:spcBef>
              <a:defRPr sz="2500">
                <a:solidFill>
                  <a:srgbClr val="0078D4"/>
                </a:solidFill>
              </a:defRPr>
            </a:pPr>
            <a:r>
              <a:t>Failover Plan for a Business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306324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978"/>
                </a:solidFill>
              </a:defRPr>
            </a:pPr>
            <a:r>
              <a:t>Disaster Recovery • Business Continuity • Controlled Failover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983480"/>
            <a:ext cx="3840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/>
            </a:pPr>
            <a:r>
              <a:t>Project No. P006</a:t>
            </a:r>
          </a:p>
          <a:p>
            <a:pPr algn="r">
              <a:defRPr sz="1800" b="1"/>
            </a:pPr>
            <a:r>
              <a:t>Team No. T108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532120"/>
            <a:ext cx="47548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2400080112-Jagadeesh</a:t>
            </a:r>
          </a:p>
          <a:p>
            <a:pPr algn="r">
              <a:defRPr sz="1400"/>
            </a:pPr>
            <a:r>
              <a:t>2400080125-Chandra</a:t>
            </a:r>
          </a:p>
          <a:p>
            <a:pPr algn="r">
              <a:defRPr sz="1400"/>
            </a:pPr>
            <a:r>
              <a:t>2400080130-Reshma</a:t>
            </a:r>
          </a:p>
          <a:p>
            <a:pPr algn="r">
              <a:defRPr sz="1400"/>
            </a:pPr>
            <a:r>
              <a:t>2400080131-Rishi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E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F6978"/>
                </a:solidFill>
              </a:defRPr>
            </a:pPr>
            <a:r>
              <a:t>Why a structured disaster-recovery plan is required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166360" cy="169164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Primary Site Failure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A regional outage or major infrastructure/network failure can make the business application unavailable.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64008" cy="1691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66360" cy="169164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Downtime &amp; Data Loss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Without planned recovery, restoring services may take too long and recent data may be lost.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64008" cy="1691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3703320"/>
            <a:ext cx="5166360" cy="169164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Recovery Complexity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Application components must be recovered in the correct order to avoid dependency and integration failures.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03320"/>
            <a:ext cx="64008" cy="1691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3703320"/>
            <a:ext cx="5166360" cy="169164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Business Impact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Extended downtime can interrupt transactions, affect users and reduce business continuity.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703320"/>
            <a:ext cx="64008" cy="1691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E"/>
                </a:solidFill>
              </a:defRPr>
            </a:pPr>
            <a:r>
              <a:t>Business Scenario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5303520" cy="425196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Business Application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Critical web/app/database workload hosted in Azure.</a:t>
            </a:r>
            <a:br/>
            <a:br/>
            <a:r>
              <a:t>The application must remain available even when the primary environment is affected.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64008" cy="4251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303520" cy="425196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Recovery Objectives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• Restore service in a secondary Azure region</a:t>
            </a:r>
            <a:br/>
            <a:r>
              <a:t>• Minimize downtime and data loss</a:t>
            </a:r>
            <a:br/>
            <a:r>
              <a:t>• Provide a repeatable recovery process</a:t>
            </a:r>
            <a:br/>
            <a:r>
              <a:t>• Recover components in the correct order</a:t>
            </a:r>
            <a:br/>
            <a:r>
              <a:t>• Validate service before users return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554480"/>
            <a:ext cx="64008" cy="4251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E"/>
                </a:solidFill>
              </a:defRPr>
            </a:pPr>
            <a:r>
              <a:t>Azure Site Recovery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F6978"/>
                </a:solidFill>
              </a:defRPr>
            </a:pPr>
            <a:r>
              <a:t>Primary region → replication → secondary region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141732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E"/>
                </a:solidFill>
              </a:defRPr>
            </a:pPr>
            <a:r>
              <a:t>Users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76272" y="2788920"/>
            <a:ext cx="384048" cy="32004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31720" y="2468880"/>
            <a:ext cx="141732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E"/>
                </a:solidFill>
              </a:defRPr>
            </a:pPr>
            <a:r>
              <a:t>Web / App VMs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22191" y="2788920"/>
            <a:ext cx="384048" cy="32004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77639" y="2468880"/>
            <a:ext cx="141732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E"/>
                </a:solidFill>
              </a:defRPr>
            </a:pPr>
            <a:r>
              <a:t>Database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68112" y="2788920"/>
            <a:ext cx="384048" cy="32004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0" y="2468880"/>
            <a:ext cx="214884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E"/>
                </a:solidFill>
              </a:defRPr>
            </a:pPr>
            <a:r>
              <a:t>Azure Site Recovery</a:t>
            </a:r>
            <a:br/>
            <a:r>
              <a:t>Recovery Services Vault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36992" y="2788920"/>
            <a:ext cx="384048" cy="32004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75320" y="2468880"/>
            <a:ext cx="160020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E"/>
                </a:solidFill>
              </a:defRPr>
            </a:pPr>
            <a:r>
              <a:t>Replicated VMs</a:t>
            </a:r>
            <a:br/>
            <a:r>
              <a:t>Target Network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948672" y="2788920"/>
            <a:ext cx="384048" cy="32004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0" y="2468880"/>
            <a:ext cx="160020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4E"/>
                </a:solidFill>
              </a:defRPr>
            </a:pPr>
            <a:r>
              <a:t>Recovered Application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4251960"/>
            <a:ext cx="242316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Replication Policy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Configured for controlled recovery.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4251960"/>
            <a:ext cx="64008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4251960"/>
            <a:ext cx="242316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Recovery Plan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Configured for controlled recovery.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4251960"/>
            <a:ext cx="64008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80960" y="4251960"/>
            <a:ext cx="242316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Monitoring &amp; Validation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Configured for controlled recovery.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4251960"/>
            <a:ext cx="64008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E"/>
                </a:solidFill>
              </a:defRPr>
            </a:pPr>
            <a:r>
              <a:t>Failover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F6978"/>
                </a:solidFill>
              </a:defRPr>
            </a:pPr>
            <a:r>
              <a:t>Six simple steps from incident detection to service release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82880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14173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2B4E"/>
                </a:solidFill>
              </a:defRPr>
            </a:pPr>
            <a:r>
              <a:t>Detect</a:t>
            </a:r>
          </a:p>
          <a:p>
            <a:pPr algn="ctr">
              <a:defRPr sz="1150">
                <a:solidFill>
                  <a:srgbClr val="5F6978"/>
                </a:solidFill>
              </a:defRPr>
            </a:pPr>
            <a:r>
              <a:t>Confirm incident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344168" y="1956816"/>
            <a:ext cx="960120" cy="274320"/>
          </a:xfrm>
          <a:prstGeom prst="rightArrow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14600" y="182880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560320"/>
            <a:ext cx="14173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2B4E"/>
                </a:solidFill>
              </a:defRPr>
            </a:pPr>
            <a:r>
              <a:t>Assess</a:t>
            </a:r>
          </a:p>
          <a:p>
            <a:pPr algn="ctr">
              <a:defRPr sz="1150">
                <a:solidFill>
                  <a:srgbClr val="5F6978"/>
                </a:solidFill>
              </a:defRPr>
            </a:pPr>
            <a:r>
              <a:t>Choose recovery point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64408" y="1956816"/>
            <a:ext cx="960120" cy="274320"/>
          </a:xfrm>
          <a:prstGeom prst="rightArrow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182880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560320"/>
            <a:ext cx="14173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2B4E"/>
                </a:solidFill>
              </a:defRPr>
            </a:pPr>
            <a:r>
              <a:t>Prepare</a:t>
            </a:r>
          </a:p>
          <a:p>
            <a:pPr algn="ctr">
              <a:defRPr sz="1150">
                <a:solidFill>
                  <a:srgbClr val="5F6978"/>
                </a:solidFill>
              </a:defRPr>
            </a:pPr>
            <a:r>
              <a:t>Check target resources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184648" y="1956816"/>
            <a:ext cx="960120" cy="274320"/>
          </a:xfrm>
          <a:prstGeom prst="rightArrow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5080" y="182880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560320"/>
            <a:ext cx="14173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2B4E"/>
                </a:solidFill>
              </a:defRPr>
            </a:pPr>
            <a:r>
              <a:t>Fail Over</a:t>
            </a:r>
          </a:p>
          <a:p>
            <a:pPr algn="ctr">
              <a:defRPr sz="1150">
                <a:solidFill>
                  <a:srgbClr val="5F6978"/>
                </a:solidFill>
              </a:defRPr>
            </a:pPr>
            <a:r>
              <a:t>Run recovery plan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04888" y="1956816"/>
            <a:ext cx="960120" cy="274320"/>
          </a:xfrm>
          <a:prstGeom prst="rightArrow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75320" y="182880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560320"/>
            <a:ext cx="14173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2B4E"/>
                </a:solidFill>
              </a:defRPr>
            </a:pPr>
            <a:r>
              <a:t>Validate</a:t>
            </a:r>
          </a:p>
          <a:p>
            <a:pPr algn="ctr">
              <a:defRPr sz="1150">
                <a:solidFill>
                  <a:srgbClr val="5F6978"/>
                </a:solidFill>
              </a:defRPr>
            </a:pPr>
            <a:r>
              <a:t>Test application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025128" y="1956816"/>
            <a:ext cx="960120" cy="274320"/>
          </a:xfrm>
          <a:prstGeom prst="rightArrow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95560" y="182880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2560320"/>
            <a:ext cx="14173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2B4E"/>
                </a:solidFill>
              </a:defRPr>
            </a:pPr>
            <a:r>
              <a:t>Communicate</a:t>
            </a:r>
          </a:p>
          <a:p>
            <a:pPr algn="ctr">
              <a:defRPr sz="1150">
                <a:solidFill>
                  <a:srgbClr val="5F6978"/>
                </a:solidFill>
              </a:defRPr>
            </a:pPr>
            <a:r>
              <a:t>Release service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E"/>
                </a:solidFill>
              </a:defRPr>
            </a:pPr>
            <a:r>
              <a:t>Recovery Plan, RTO &amp; RPO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F6978"/>
                </a:solidFill>
              </a:defRPr>
            </a:pPr>
            <a:r>
              <a:t>Recovery sequence and measurable business targets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2900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1. Infrastructure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Network, security and supporting services.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64008" cy="1828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508760"/>
            <a:ext cx="342900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2. Database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Recover and verify data consistency.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508760"/>
            <a:ext cx="64008" cy="1828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75320" y="1508760"/>
            <a:ext cx="342900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3. Application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Start app/web tiers and validate integrations.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508760"/>
            <a:ext cx="64008" cy="1828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20240" y="3977639"/>
            <a:ext cx="3749039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Example RTO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≤ 60 minutes</a:t>
            </a:r>
            <a:br/>
            <a:r>
              <a:t>Maximum acceptable service interruption.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3977639"/>
            <a:ext cx="64008" cy="1508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3977639"/>
            <a:ext cx="3749039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Example RPO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≤ 15 minutes</a:t>
            </a:r>
            <a:br/>
            <a:r>
              <a:t>Maximum acceptable data-loss window.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977639"/>
            <a:ext cx="64008" cy="1508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E"/>
                </a:solidFill>
              </a:defRPr>
            </a:pPr>
            <a:r>
              <a:t>Testing, Failback &amp;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16636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Test Failover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Run scheduled exercises in an isolated environment.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64008" cy="1234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16636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Validation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Check login, transactions, database, APIs and integrations.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17320"/>
            <a:ext cx="64008" cy="1234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3017520"/>
            <a:ext cx="516636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Failback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Confirm primary health → synchronize changes → controlled cutover → validate.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017520"/>
            <a:ext cx="64008" cy="1234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017520"/>
            <a:ext cx="516636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Monitoring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Track replication health, VM status and recovery readiness.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017520"/>
            <a:ext cx="64008" cy="1234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4617720"/>
            <a:ext cx="516636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Security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Use RBAC, least privilege and protected recovery configurations.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617720"/>
            <a:ext cx="64008" cy="1234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4617720"/>
            <a:ext cx="516636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Documentation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Keep runbooks, dependencies, contacts and targets current.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617720"/>
            <a:ext cx="64008" cy="1234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B4E"/>
                </a:solidFill>
              </a:defRPr>
            </a:pPr>
            <a: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1051560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1. Structured Recovery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Azure Site Recovery enables recovery of critical workloads in a secondary region.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64008" cy="1143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88920"/>
            <a:ext cx="1051560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2. Operational Readiness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Success depends on replication, recovery sequencing, clear ownership and regular testing.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88920"/>
            <a:ext cx="64008" cy="1143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4114800"/>
            <a:ext cx="1051560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700" b="1">
                <a:solidFill>
                  <a:srgbClr val="142B4E"/>
                </a:solidFill>
              </a:defRPr>
            </a:pPr>
            <a:r>
              <a:t>3. Measurable Targets</a:t>
            </a:r>
          </a:p>
          <a:p>
            <a:pPr>
              <a:spcBef>
                <a:spcPts val="600"/>
              </a:spcBef>
              <a:defRPr sz="1250">
                <a:solidFill>
                  <a:srgbClr val="232D3C"/>
                </a:solidFill>
              </a:defRPr>
            </a:pPr>
            <a:r>
              <a:t>RTO and RPO should be agreed with the business and measured during DR exercises.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114800"/>
            <a:ext cx="64008" cy="1143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078D4"/>
                </a:solidFill>
              </a:defRPr>
            </a:pPr>
            <a:r>
              <a:t>Thank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42B4E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4612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5F6978"/>
                </a:solidFill>
              </a:defRPr>
            </a:pPr>
            <a:r>
              <a:t>Azure Site Recovery — Failover Plan for a Business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6908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78D4"/>
                </a:solidFill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92708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